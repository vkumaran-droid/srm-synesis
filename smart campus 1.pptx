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Hubot Sans" panose="020B0604020202020204" charset="0"/>
      <p:regular r:id="rId13"/>
    </p:embeddedFont>
    <p:embeddedFont>
      <p:font typeface="Mozilla Headline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86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657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A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83D">
              <a:alpha val="42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A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4223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CAMPUS ENERGY INTELLIGENCE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23321" y="1223393"/>
            <a:ext cx="10972526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Phantom</a:t>
            </a:r>
            <a:endParaRPr lang="en-US" sz="7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Classrooms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609585" y="4489450"/>
            <a:ext cx="109725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Turning real campus usage into safer, explainable decisions.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64878"/>
            <a:ext cx="603998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THE MISMATCH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882871"/>
            <a:ext cx="5430404" cy="268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Schedules describe intent.</a:t>
            </a:r>
            <a:endParaRPr lang="en-US" sz="48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4800" b="1" u="sng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Rooms reveal reality.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4762103"/>
            <a:ext cx="543040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Timetables say when a room should be in use. The room often tells a different story.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663" y="0"/>
            <a:ext cx="508503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900138"/>
            <a:ext cx="427979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THE ROOM BECOMES A SIGNAL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218131"/>
            <a:ext cx="3670208" cy="201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One room,</a:t>
            </a:r>
            <a:endParaRPr lang="en-US" sz="48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4800" b="1" u="sng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many signals.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4426843"/>
            <a:ext cx="367020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Camera, timetable, motion, equipment, and energy cross-check each other.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566" y="0"/>
            <a:ext cx="684512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368748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FROM INPUTS TO JUDGMENT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686741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Confidence comes from </a:t>
            </a:r>
            <a:r>
              <a:rPr lang="en-US" sz="4800" b="1" u="sng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fusion</a:t>
            </a:r>
            <a:r>
              <a:rPr lang="en-US" sz="48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, not guesswork.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4224933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Agreement raises confidence. Conflict means verify.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01477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ACTIONABLE WASTE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819470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Catch waste while it is still </a:t>
            </a:r>
            <a:r>
              <a:rPr lang="en-US" sz="4800" b="1" u="sng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actionable.</a:t>
            </a:r>
            <a:endParaRPr lang="en-US" sz="4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687141"/>
            <a:ext cx="3249531" cy="18278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4728415"/>
            <a:ext cx="345431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Lights left on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691" y="2687141"/>
            <a:ext cx="3249531" cy="18278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8691" y="4728415"/>
            <a:ext cx="345431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Cooling an empty room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797" y="2687141"/>
            <a:ext cx="3249531" cy="18278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27797" y="4728415"/>
            <a:ext cx="345431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Projector still active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609585" y="5161161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Watch for repeat offenders.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704009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THE SAFETY GATE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3022002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Verify before the system </a:t>
            </a:r>
            <a:r>
              <a:rPr lang="en-US" sz="4800" b="1" u="sng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acts.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3889673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When signals conflict, pause automation and ask for a second check.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084884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RECOMMENDATION, NOT COMMAND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402877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Recommend the safest next move.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3270548"/>
            <a:ext cx="2514537" cy="1504950"/>
          </a:xfrm>
          <a:prstGeom prst="roundRect">
            <a:avLst>
              <a:gd name="adj" fmla="val 4962"/>
            </a:avLst>
          </a:prstGeom>
          <a:solidFill>
            <a:srgbClr val="DDE0E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3499148"/>
            <a:ext cx="355591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4000798"/>
            <a:ext cx="205734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545D6B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Notify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428914" y="3270548"/>
            <a:ext cx="2514537" cy="1504950"/>
          </a:xfrm>
          <a:prstGeom prst="roundRect">
            <a:avLst>
              <a:gd name="adj" fmla="val 4962"/>
            </a:avLst>
          </a:prstGeom>
          <a:solidFill>
            <a:srgbClr val="DDE0E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09" y="3499148"/>
            <a:ext cx="355591" cy="35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509" y="4000798"/>
            <a:ext cx="205734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545D6B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Schedule a check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248244" y="3270548"/>
            <a:ext cx="2514537" cy="1504950"/>
          </a:xfrm>
          <a:prstGeom prst="roundRect">
            <a:avLst>
              <a:gd name="adj" fmla="val 4962"/>
            </a:avLst>
          </a:prstGeom>
          <a:solidFill>
            <a:srgbClr val="DDE0E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838" y="3499148"/>
            <a:ext cx="355591" cy="355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76838" y="4000798"/>
            <a:ext cx="205734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545D6B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Reduce load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9067573" y="3270548"/>
            <a:ext cx="2514537" cy="1504950"/>
          </a:xfrm>
          <a:prstGeom prst="roundRect">
            <a:avLst>
              <a:gd name="adj" fmla="val 4962"/>
            </a:avLst>
          </a:prstGeom>
          <a:solidFill>
            <a:srgbClr val="FF9466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167" y="3499148"/>
            <a:ext cx="355591" cy="355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96167" y="4000798"/>
            <a:ext cx="205734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Switch off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759869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BEFORE DEPLOYMENT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3074987"/>
            <a:ext cx="10972526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0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Make savings visible </a:t>
            </a:r>
            <a:r>
              <a:rPr lang="en-US" sz="4000" b="1" u="sng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before</a:t>
            </a:r>
            <a:r>
              <a:rPr lang="en-US" sz="40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 deployment.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3833813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Test every change on paper first.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010271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THE OPERATIONS 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328264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Find the rooms where waste </a:t>
            </a:r>
            <a:r>
              <a:rPr lang="en-US" sz="4800" b="1" u="sng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repeats.</a:t>
            </a:r>
            <a:endParaRPr lang="en-US" sz="4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195935"/>
          <a:ext cx="10972525" cy="1654134"/>
        </p:xfrm>
        <a:graphic>
          <a:graphicData uri="http://schemas.openxmlformats.org/drawingml/2006/table">
            <a:tbl>
              <a:tblPr/>
              <a:tblGrid>
                <a:gridCol w="3291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1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1C26"/>
                          </a:solidFill>
                          <a:latin typeface="Hubot Sans" pitchFamily="34" charset="0"/>
                          <a:ea typeface="Hubot Sans" pitchFamily="34" charset="-122"/>
                          <a:cs typeface="Hubot Sans" pitchFamily="34" charset="-120"/>
                        </a:rPr>
                        <a:t>Room type</a:t>
                      </a:r>
                      <a:endParaRPr lang="en-US" sz="1400" dirty="0">
                        <a:latin typeface="Hubot Sans" charset="0"/>
                        <a:ea typeface="Hubot Sans" charset="0"/>
                        <a:cs typeface="Hubo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1C26"/>
                          </a:solidFill>
                          <a:latin typeface="Hubot Sans" pitchFamily="34" charset="0"/>
                          <a:ea typeface="Hubot Sans" pitchFamily="34" charset="-122"/>
                          <a:cs typeface="Hubot Sans" pitchFamily="34" charset="-120"/>
                        </a:rPr>
                        <a:t>Recurring pattern</a:t>
                      </a:r>
                      <a:endParaRPr lang="en-US" sz="1400" dirty="0">
                        <a:latin typeface="Hubot Sans" charset="0"/>
                        <a:ea typeface="Hubot Sans" charset="0"/>
                        <a:cs typeface="Hubo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61C26"/>
                          </a:solidFill>
                          <a:latin typeface="Hubot Sans" pitchFamily="34" charset="0"/>
                          <a:ea typeface="Hubot Sans" pitchFamily="34" charset="-122"/>
                          <a:cs typeface="Hubot Sans" pitchFamily="34" charset="-120"/>
                        </a:rPr>
                        <a:t>Next move</a:t>
                      </a:r>
                      <a:endParaRPr lang="en-US" sz="1400" dirty="0">
                        <a:latin typeface="Hubot Sans" charset="0"/>
                        <a:ea typeface="Hubot Sans" charset="0"/>
                        <a:cs typeface="Hubo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1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545D6B"/>
                          </a:solidFill>
                          <a:latin typeface="Hubot Sans" pitchFamily="34" charset="0"/>
                          <a:ea typeface="Hubot Sans" pitchFamily="34" charset="-122"/>
                          <a:cs typeface="Hubot Sans" pitchFamily="34" charset="-120"/>
                        </a:rPr>
                        <a:t>Classrooms</a:t>
                      </a:r>
                      <a:endParaRPr lang="en-US" sz="1400" dirty="0">
                        <a:latin typeface="Hubot Sans" charset="0"/>
                        <a:ea typeface="Hubot Sans" charset="0"/>
                        <a:cs typeface="Hubo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545D6B"/>
                          </a:solidFill>
                          <a:latin typeface="Hubot Sans" pitchFamily="34" charset="0"/>
                          <a:ea typeface="Hubot Sans" pitchFamily="34" charset="-122"/>
                          <a:cs typeface="Hubot Sans" pitchFamily="34" charset="-120"/>
                        </a:rPr>
                        <a:t>Lights after late sessions</a:t>
                      </a:r>
                      <a:endParaRPr lang="en-US" sz="1400" dirty="0">
                        <a:latin typeface="Hubot Sans" charset="0"/>
                        <a:ea typeface="Hubot Sans" charset="0"/>
                        <a:cs typeface="Hubo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545D6B"/>
                          </a:solidFill>
                          <a:latin typeface="Hubot Sans" pitchFamily="34" charset="0"/>
                          <a:ea typeface="Hubot Sans" pitchFamily="34" charset="-122"/>
                          <a:cs typeface="Hubot Sans" pitchFamily="34" charset="-120"/>
                        </a:rPr>
                        <a:t>Notify owner</a:t>
                      </a:r>
                      <a:endParaRPr lang="en-US" sz="1400" dirty="0">
                        <a:latin typeface="Hubot Sans" charset="0"/>
                        <a:ea typeface="Hubot Sans" charset="0"/>
                        <a:cs typeface="Hubo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1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545D6B"/>
                          </a:solidFill>
                          <a:latin typeface="Hubot Sans" pitchFamily="34" charset="0"/>
                          <a:ea typeface="Hubot Sans" pitchFamily="34" charset="-122"/>
                          <a:cs typeface="Hubot Sans" pitchFamily="34" charset="-120"/>
                        </a:rPr>
                        <a:t>Labs</a:t>
                      </a:r>
                      <a:endParaRPr lang="en-US" sz="1400" dirty="0">
                        <a:latin typeface="Hubot Sans" charset="0"/>
                        <a:ea typeface="Hubot Sans" charset="0"/>
                        <a:cs typeface="Hubo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545D6B"/>
                          </a:solidFill>
                          <a:latin typeface="Hubot Sans" pitchFamily="34" charset="0"/>
                          <a:ea typeface="Hubot Sans" pitchFamily="34" charset="-122"/>
                          <a:cs typeface="Hubot Sans" pitchFamily="34" charset="-120"/>
                        </a:rPr>
                        <a:t>Cooling after cancellations</a:t>
                      </a:r>
                      <a:endParaRPr lang="en-US" sz="1400" dirty="0">
                        <a:latin typeface="Hubot Sans" charset="0"/>
                        <a:ea typeface="Hubot Sans" charset="0"/>
                        <a:cs typeface="Hubo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545D6B"/>
                          </a:solidFill>
                          <a:latin typeface="Hubot Sans" pitchFamily="34" charset="0"/>
                          <a:ea typeface="Hubot Sans" pitchFamily="34" charset="-122"/>
                          <a:cs typeface="Hubot Sans" pitchFamily="34" charset="-120"/>
                        </a:rPr>
                        <a:t>Schedule a check</a:t>
                      </a:r>
                      <a:endParaRPr lang="en-US" sz="1400" dirty="0">
                        <a:latin typeface="Hubot Sans" charset="0"/>
                        <a:ea typeface="Hubot Sans" charset="0"/>
                        <a:cs typeface="Hubo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7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545D6B"/>
                          </a:solidFill>
                          <a:latin typeface="Hubot Sans" pitchFamily="34" charset="0"/>
                          <a:ea typeface="Hubot Sans" pitchFamily="34" charset="-122"/>
                          <a:cs typeface="Hubot Sans" pitchFamily="34" charset="-120"/>
                        </a:rPr>
                        <a:t>Seminar halls</a:t>
                      </a:r>
                      <a:endParaRPr lang="en-US" sz="1400" dirty="0">
                        <a:latin typeface="Hubot Sans" charset="0"/>
                        <a:ea typeface="Hubot Sans" charset="0"/>
                        <a:cs typeface="Hubo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545D6B"/>
                          </a:solidFill>
                          <a:latin typeface="Hubot Sans" pitchFamily="34" charset="0"/>
                          <a:ea typeface="Hubot Sans" pitchFamily="34" charset="-122"/>
                          <a:cs typeface="Hubot Sans" pitchFamily="34" charset="-120"/>
                        </a:rPr>
                        <a:t>Projector left on</a:t>
                      </a:r>
                      <a:endParaRPr lang="en-US" sz="1400" dirty="0">
                        <a:latin typeface="Hubot Sans" charset="0"/>
                        <a:ea typeface="Hubot Sans" charset="0"/>
                        <a:cs typeface="Hubo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545D6B"/>
                          </a:solidFill>
                          <a:latin typeface="Hubot Sans" pitchFamily="34" charset="0"/>
                          <a:ea typeface="Hubot Sans" pitchFamily="34" charset="-122"/>
                          <a:cs typeface="Hubot Sans" pitchFamily="34" charset="-120"/>
                        </a:rPr>
                        <a:t>Review policy</a:t>
                      </a:r>
                      <a:endParaRPr lang="en-US" sz="1400" dirty="0">
                        <a:latin typeface="Hubot Sans" charset="0"/>
                        <a:ea typeface="Hubot Sans" charset="0"/>
                        <a:cs typeface="Hubot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29569"/>
            <a:ext cx="525766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100" spc="63" dirty="0">
                <a:solidFill>
                  <a:srgbClr val="A8380F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THE OPERATING PRINCIPLE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008187"/>
            <a:ext cx="4648084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400" b="1" dirty="0">
                <a:solidFill>
                  <a:srgbClr val="161C26"/>
                </a:solidFill>
                <a:latin typeface="Mozilla Headline Bold" pitchFamily="34" charset="0"/>
                <a:ea typeface="Mozilla Headline Bold" pitchFamily="34" charset="-122"/>
                <a:cs typeface="Mozilla Headline Bold" pitchFamily="34" charset="-120"/>
              </a:rPr>
              <a:t>The Kindness Rule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609585" y="4964113"/>
            <a:ext cx="525766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545D6B"/>
                </a:solidFill>
                <a:latin typeface="Hubot Sans" pitchFamily="34" charset="0"/>
                <a:ea typeface="Hubot Sans" pitchFamily="34" charset="-122"/>
                <a:cs typeface="Hubot Sans" pitchFamily="34" charset="-120"/>
              </a:rPr>
              <a:t>Comfort first. Safety first. Human override, always.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027" y="1104900"/>
            <a:ext cx="4648084" cy="4648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232</Words>
  <Application>Microsoft Office PowerPoint</Application>
  <PresentationFormat>Widescreen</PresentationFormat>
  <Paragraphs>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Mozilla Headline Bold</vt:lpstr>
      <vt:lpstr>Arial</vt:lpstr>
      <vt:lpstr>Hubot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Bala V</dc:creator>
  <cp:lastModifiedBy>Bala V</cp:lastModifiedBy>
  <cp:revision>3</cp:revision>
  <dcterms:created xsi:type="dcterms:W3CDTF">2026-10-13T05:30:22Z</dcterms:created>
  <dcterms:modified xsi:type="dcterms:W3CDTF">2026-10-13T09:36:43Z</dcterms:modified>
</cp:coreProperties>
</file>